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123f8dda624267" /><Relationship Type="http://schemas.openxmlformats.org/officeDocument/2006/relationships/extended-properties" Target="/docProps/app.xml" Id="Reb64a46bb3684e14" /><Relationship Type="http://schemas.openxmlformats.org/officeDocument/2006/relationships/officeDocument" Target="/ppt/presentation.xml" Id="R322d219338d24208" /></Relationships>
</file>

<file path=ppt/presentation.xml><?xml version="1.0" encoding="utf-8"?>
<p:presentation xmlns:p="http://schemas.openxmlformats.org/presentationml/2006/main">
  <p:sldMasterIdLst>
    <p:sldMasterId xmlns:r="http://schemas.openxmlformats.org/officeDocument/2006/relationships" id="2147483648" r:id="R6d0c07b6bf0045c2"/>
  </p:sldMasterIdLst>
  <p:notesMasterIdLst>
    <p:notesMasterId xmlns:r="http://schemas.openxmlformats.org/officeDocument/2006/relationships" r:id="R0af1befa636948ec"/>
  </p:notesMasterIdLst>
  <p:sldIdLst>
    <p:sldId xmlns:r="http://schemas.openxmlformats.org/officeDocument/2006/relationships" id="256" r:id="R370a4f9afdbc4b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d7f5e3411040fd" /><Relationship Type="http://schemas.openxmlformats.org/officeDocument/2006/relationships/slideMaster" Target="/ppt/slideMasters/slideMaster1.xml" Id="R6d0c07b6bf0045c2" /><Relationship Type="http://schemas.openxmlformats.org/officeDocument/2006/relationships/notesMaster" Target="/ppt/notesMasters/notesMaster1.xml" Id="R0af1befa636948ec" /><Relationship Type="http://schemas.openxmlformats.org/officeDocument/2006/relationships/presProps" Target="/ppt/presProps.xml" Id="R8ffbe32f907f4676" /><Relationship Type="http://schemas.openxmlformats.org/officeDocument/2006/relationships/tableStyles" Target="/ppt/tableStyles.xml" Id="R56c1f0a9840a4040" /><Relationship Type="http://schemas.openxmlformats.org/officeDocument/2006/relationships/slide" Target="/ppt/slides/slide1.xml" Id="R370a4f9afdbc4b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1b6952a28e4d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3644421a934057" /><Relationship Type="http://schemas.openxmlformats.org/officeDocument/2006/relationships/notesMaster" Target="/ppt/notesMasters/notesMaster1.xml" Id="Rd78fd407bcba4f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
            </a:r>
          </a:p>
          <a:p xmlns:a="http://schemas.openxmlformats.org/drawingml/2006/main">
            <a:r>
              <a:t>This slide shows how we calculate the dynamic LLR scale. First, we correct the SFO phase. For each training carrier, we estimate the channel H from the known training signal. Then we measure the residual error e. A small residual means a better carrier.</a:t>
            </a:r>
          </a:p>
          <a:p xmlns:a="http://schemas.openxmlformats.org/drawingml/2006/main">
            <a:r>
              <a:t/>
            </a:r>
          </a:p>
          <a:p xmlns:a="http://schemas.openxmlformats.org/drawingml/2006/main">
            <a:r>
              <a:t>Next, we use r equals channel gain squared divided by the residual. We compare each r with the median value. This gives a relative carrier weight. We also calculate a base scale. The base scale is 3 when the median error is small. When the median error is above 1, we use 3 divided by the square root of the median error, with limits from 0.5 to 3.</a:t>
            </a:r>
          </a:p>
          <a:p xmlns:a="http://schemas.openxmlformats.org/drawingml/2006/main">
            <a:r>
              <a:t/>
            </a:r>
          </a:p>
          <a:p xmlns:a="http://schemas.openxmlformats.org/drawingml/2006/main">
            <a:r>
              <a:t>The final scale for carrier k is the base scale times its weight. We use this scale for the two LLR values from each QPSK carrier. The LDPC decoder then uses the LLR values and the parity checks. With this change, the BER after LDPC became zero, and we recovered the JPG.</a:t>
            </a:r>
          </a:p>
          <a:p xmlns:a="http://schemas.openxmlformats.org/drawingml/2006/main">
            <a:r>
              <a:t/>
            </a:r>
          </a:p>
          <a:p xmlns:a="http://schemas.openxmlformats.org/drawingml/2006/main">
            <a:r>
              <a:t>中文演讲稿</a:t>
            </a:r>
          </a:p>
          <a:p xmlns:a="http://schemas.openxmlformats.org/drawingml/2006/main">
            <a:r>
              <a:t/>
            </a:r>
          </a:p>
          <a:p xmlns:a="http://schemas.openxmlformats.org/drawingml/2006/main">
            <a:r>
              <a:t>这一页说明动态 LLR scale 是怎样计算的。首先，我们先校正 SFO 带来的相位变化。对于每一个 training 载波，我们根据已知的 training 信号估计信道 H，然后计算残差 e。残差越小，说明这个载波越可靠。</a:t>
            </a:r>
          </a:p>
          <a:p xmlns:a="http://schemas.openxmlformats.org/drawingml/2006/main">
            <a:r>
              <a:t/>
            </a:r>
          </a:p>
          <a:p xmlns:a="http://schemas.openxmlformats.org/drawingml/2006/main">
            <a:r>
              <a:t>接着，我们使用“信道增益的平方除以残差”得到可靠度 r，再把每个载波的 r 和所有载波的中位数进行比较，从而得到相对权重。同时，我们计算基础 scale。当中位数误差较小时，基础 scale 取 3；当中位数误差大于 1 时，使用 3 除以中位数误差的平方根，并把结果限制在 0.5 到 3 之间。</a:t>
            </a:r>
          </a:p>
          <a:p xmlns:a="http://schemas.openxmlformats.org/drawingml/2006/main">
            <a:r>
              <a:t/>
            </a:r>
          </a:p>
          <a:p xmlns:a="http://schemas.openxmlformats.org/drawingml/2006/main">
            <a:r>
              <a:t>最后，第 k 个载波的 scale 等于基础 scale 乘以它自己的权重。这个 scale 会用于该 QPSK 载波产生的两个 LLR。LDPC 再利用这些 LLR 和奇偶校验关系进行解码。改进后，LDPC 后 BER 达到 0%，原始 JPG 成功恢复。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bb430a0d8a4f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73b5d68b2b481f" /><Relationship Type="http://schemas.openxmlformats.org/officeDocument/2006/relationships/slideLayout" Target="/ppt/slideLayouts/slideLayout1.xml" Id="R59667a42e51540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667a42e51540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0f1cef80464f2c" /><Relationship Type="http://schemas.openxmlformats.org/officeDocument/2006/relationships/notesSlide" Target="/ppt/notesSlides/notesSlide1.xml" Id="Ra490648b6bc347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0371E35-68EC-459C-91BE-83937D1AB229}"/>
              </a:ext>
            </a:extLst>
          </p:cNvPr>
          <p:cNvSpPr>
            <a:spLocks xmlns:a="http://schemas.openxmlformats.org/drawingml/2006/main" noGrp="1"/>
          </p:cNvSpPr>
          <p:nvPr/>
        </p:nvSpPr>
        <p:spPr>
          <a:xfrm xmlns:a="http://schemas.openxmlformats.org/drawingml/2006/main">
            <a:off x="609600" y="32385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1"/>
          </a:bodyPr>
          <a:lstStyle xmlns:a="http://schemas.openxmlformats.org/drawingml/2006/main"/>
          <a:p xmlns:a="http://schemas.openxmlformats.org/drawingml/2006/main">
            <a:pPr>
              <a:defRPr sz="2850" b="1">
                <a:solidFill>
                  <a:srgbClr val="102A43"/>
                </a:solidFill>
                <a:latin typeface="Arial"/>
                <a:ea typeface="Arial"/>
                <a:cs typeface="Arial"/>
              </a:defRPr>
            </a:pPr>
            <a:r>
              <a:rPr sz="2850" b="1">
                <a:solidFill>
                  <a:srgbClr val="102A43"/>
                </a:solidFill>
                <a:latin typeface="Arial"/>
                <a:ea typeface="Arial"/>
                <a:cs typeface="Arial"/>
              </a:rPr>
              <a:t>Dynamic LLR Scale</a:t>
            </a:r>
          </a:p>
        </p:txBody>
      </p:sp>
      <p:sp>
        <p:nvSpPr>
          <p:cNvPr id="2" name="">
            <a:extLst xmlns:a="http://schemas.openxmlformats.org/drawingml/2006/main">
              <a:ext uri="{FF2B5EF4-FFF2-40B4-BE49-F238E27FC236}">
                <a16:creationId xmlns:a16="http://schemas.microsoft.com/office/drawing/2014/main" id="{FD6510F8-5A55-4046-866D-47B472B09F81}"/>
              </a:ext>
            </a:extLst>
          </p:cNvPr>
          <p:cNvSpPr>
            <a:spLocks xmlns:a="http://schemas.openxmlformats.org/drawingml/2006/main" noGrp="1"/>
          </p:cNvSpPr>
          <p:nvPr/>
        </p:nvSpPr>
        <p:spPr>
          <a:xfrm xmlns:a="http://schemas.openxmlformats.org/drawingml/2006/main">
            <a:off x="628650" y="8191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0">
                <a:solidFill>
                  <a:srgbClr val="52606D"/>
                </a:solidFill>
                <a:latin typeface="Arial"/>
                <a:ea typeface="Arial"/>
                <a:cs typeface="Arial"/>
              </a:defRPr>
            </a:pPr>
            <a:r>
              <a:rPr sz="1275" b="0">
                <a:solidFill>
                  <a:srgbClr val="52606D"/>
                </a:solidFill>
                <a:latin typeface="Arial"/>
                <a:ea typeface="Arial"/>
                <a:cs typeface="Arial"/>
              </a:rPr>
              <a:t>Receiver-side calculation after SFO correction</a:t>
            </a:r>
          </a:p>
        </p:txBody>
      </p:sp>
      <p:sp>
        <p:nvSpPr>
          <p:cNvPr id="3" name="">
            <a:extLst xmlns:a="http://schemas.openxmlformats.org/drawingml/2006/main">
              <a:ext uri="{FF2B5EF4-FFF2-40B4-BE49-F238E27FC236}">
                <a16:creationId xmlns:a16="http://schemas.microsoft.com/office/drawing/2014/main" id="{7C0F9444-138D-4EFD-8071-E482E5825118}"/>
              </a:ext>
            </a:extLst>
          </p:cNvPr>
          <p:cNvSpPr>
            <a:spLocks xmlns:a="http://schemas.openxmlformats.org/drawingml/2006/main" noGrp="1"/>
          </p:cNvSpPr>
          <p:nvPr/>
        </p:nvSpPr>
        <p:spPr>
          <a:xfrm xmlns:a="http://schemas.openxmlformats.org/drawingml/2006/main">
            <a:off x="609600" y="1181100"/>
            <a:ext cx="10972800" cy="38100"/>
          </a:xfrm>
          <a:prstGeom xmlns:a="http://schemas.openxmlformats.org/drawingml/2006/main" prst="rect">
            <a:avLst/>
          </a:prstGeom>
          <a:solidFill xmlns:a="http://schemas.openxmlformats.org/drawingml/2006/main">
            <a:srgbClr val="2A9D8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9FB87D-91BE-4670-BB3A-D89D0030661B}"/>
              </a:ext>
            </a:extLst>
          </p:cNvPr>
          <p:cNvSpPr>
            <a:spLocks xmlns:a="http://schemas.openxmlformats.org/drawingml/2006/main" noGrp="1"/>
          </p:cNvSpPr>
          <p:nvPr/>
        </p:nvSpPr>
        <p:spPr>
          <a:xfrm xmlns:a="http://schemas.openxmlformats.org/drawingml/2006/main">
            <a:off x="609600" y="1428750"/>
            <a:ext cx="10972800" cy="628650"/>
          </a:xfrm>
          <a:prstGeom xmlns:a="http://schemas.openxmlformats.org/drawingml/2006/main" prst="roundRect">
            <a:avLst>
              <a:gd name="adj" fmla="val 12121"/>
            </a:avLst>
          </a:prstGeom>
          <a:solidFill xmlns:a="http://schemas.openxmlformats.org/drawingml/2006/main">
            <a:srgbClr val="F4F7FA"/>
          </a:solidFill>
          <a:ln xmlns:a="http://schemas.openxmlformats.org/drawingml/2006/main" w="9525">
            <a:solidFill>
              <a:srgbClr val="D9E2EC"/>
            </a:solidFill>
            <a:prstDash val="solid"/>
          </a:ln>
        </p:spPr>
      </p:sp>
      <p:sp>
        <p:nvSpPr>
          <p:cNvPr id="5" name="">
            <a:extLst xmlns:a="http://schemas.openxmlformats.org/drawingml/2006/main">
              <a:ext uri="{FF2B5EF4-FFF2-40B4-BE49-F238E27FC236}">
                <a16:creationId xmlns:a16="http://schemas.microsoft.com/office/drawing/2014/main" id="{E54AF4D9-1AE1-42A9-87A6-DFA8F482B234}"/>
              </a:ext>
            </a:extLst>
          </p:cNvPr>
          <p:cNvSpPr>
            <a:spLocks xmlns:a="http://schemas.openxmlformats.org/drawingml/2006/main" noGrp="1"/>
          </p:cNvSpPr>
          <p:nvPr/>
        </p:nvSpPr>
        <p:spPr>
          <a:xfrm xmlns:a="http://schemas.openxmlformats.org/drawingml/2006/main">
            <a:off x="838200" y="15906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27C9D"/>
                </a:solidFill>
                <a:latin typeface="Arial"/>
                <a:ea typeface="Arial"/>
                <a:cs typeface="Arial"/>
              </a:defRPr>
            </a:pPr>
            <a:r>
              <a:rPr sz="1275" b="1">
                <a:solidFill>
                  <a:srgbClr val="227C9D"/>
                </a:solidFill>
                <a:latin typeface="Arial"/>
                <a:ea typeface="Arial"/>
                <a:cs typeface="Arial"/>
              </a:rPr>
              <a:t>After SFO correction:</a:t>
            </a:r>
          </a:p>
        </p:txBody>
      </p:sp>
      <p:sp>
        <p:nvSpPr>
          <p:cNvPr id="6" name="">
            <a:extLst xmlns:a="http://schemas.openxmlformats.org/drawingml/2006/main">
              <a:ext uri="{FF2B5EF4-FFF2-40B4-BE49-F238E27FC236}">
                <a16:creationId xmlns:a16="http://schemas.microsoft.com/office/drawing/2014/main" id="{D801E3C7-2103-4A69-B4AA-51E7B048193A}"/>
              </a:ext>
            </a:extLst>
          </p:cNvPr>
          <p:cNvSpPr>
            <a:spLocks xmlns:a="http://schemas.openxmlformats.org/drawingml/2006/main" noGrp="1"/>
          </p:cNvSpPr>
          <p:nvPr/>
        </p:nvSpPr>
        <p:spPr>
          <a:xfrm xmlns:a="http://schemas.openxmlformats.org/drawingml/2006/main">
            <a:off x="2857500" y="15430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026"/>
          </a:bodyPr>
          <a:lstStyle xmlns:a="http://schemas.openxmlformats.org/drawingml/2006/main"/>
          <a:p xmlns:a="http://schemas.openxmlformats.org/drawingml/2006/main">
            <a:pPr>
              <a:defRPr sz="1950" b="1">
                <a:solidFill>
                  <a:srgbClr val="102A43"/>
                </a:solidFill>
                <a:latin typeface="Arial"/>
                <a:ea typeface="Arial"/>
                <a:cs typeface="Arial"/>
              </a:defRPr>
            </a:pPr>
            <a:r>
              <a:rPr sz="1950" b="1">
                <a:solidFill>
                  <a:srgbClr val="102A43"/>
                </a:solidFill>
                <a:latin typeface="Arial"/>
                <a:ea typeface="Arial"/>
                <a:cs typeface="Arial"/>
              </a:rPr>
              <a:t>Yᶜᵒʳʳₘ,ₖ = Hₖ Xₘ,ₖ + Nₘ,ₖ</a:t>
            </a:r>
          </a:p>
        </p:txBody>
      </p:sp>
      <p:sp>
        <p:nvSpPr>
          <p:cNvPr id="7" name="">
            <a:extLst xmlns:a="http://schemas.openxmlformats.org/drawingml/2006/main">
              <a:ext uri="{FF2B5EF4-FFF2-40B4-BE49-F238E27FC236}">
                <a16:creationId xmlns:a16="http://schemas.microsoft.com/office/drawing/2014/main" id="{66B293AE-4EA0-4B8B-B58F-1C6652A59D13}"/>
              </a:ext>
            </a:extLst>
          </p:cNvPr>
          <p:cNvSpPr>
            <a:spLocks xmlns:a="http://schemas.openxmlformats.org/drawingml/2006/main" noGrp="1"/>
          </p:cNvSpPr>
          <p:nvPr/>
        </p:nvSpPr>
        <p:spPr>
          <a:xfrm xmlns:a="http://schemas.openxmlformats.org/drawingml/2006/main">
            <a:off x="7810500" y="1600200"/>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m = training symbol     k = active carrier</a:t>
            </a:r>
          </a:p>
        </p:txBody>
      </p:sp>
      <p:sp>
        <p:nvSpPr>
          <p:cNvPr id="8" name="">
            <a:extLst xmlns:a="http://schemas.openxmlformats.org/drawingml/2006/main">
              <a:ext uri="{FF2B5EF4-FFF2-40B4-BE49-F238E27FC236}">
                <a16:creationId xmlns:a16="http://schemas.microsoft.com/office/drawing/2014/main" id="{91DB68EA-B908-4D32-AFB9-97C3E49420A6}"/>
              </a:ext>
            </a:extLst>
          </p:cNvPr>
          <p:cNvSpPr>
            <a:spLocks xmlns:a="http://schemas.openxmlformats.org/drawingml/2006/main" noGrp="1"/>
          </p:cNvSpPr>
          <p:nvPr/>
        </p:nvSpPr>
        <p:spPr>
          <a:xfrm xmlns:a="http://schemas.openxmlformats.org/drawingml/2006/main">
            <a:off x="609600" y="2324100"/>
            <a:ext cx="2619375" cy="1485900"/>
          </a:xfrm>
          <a:prstGeom xmlns:a="http://schemas.openxmlformats.org/drawingml/2006/main" prst="roundRect">
            <a:avLst>
              <a:gd name="adj" fmla="val 5128"/>
            </a:avLst>
          </a:prstGeom>
          <a:solidFill xmlns:a="http://schemas.openxmlformats.org/drawingml/2006/main">
            <a:srgbClr val="EFF7FB"/>
          </a:solidFill>
          <a:ln xmlns:a="http://schemas.openxmlformats.org/drawingml/2006/main" w="9525">
            <a:solidFill>
              <a:srgbClr val="D9E2EC"/>
            </a:solidFill>
            <a:prstDash val="solid"/>
          </a:ln>
        </p:spPr>
      </p:sp>
      <p:sp>
        <p:nvSpPr>
          <p:cNvPr id="9" name="">
            <a:extLst xmlns:a="http://schemas.openxmlformats.org/drawingml/2006/main">
              <a:ext uri="{FF2B5EF4-FFF2-40B4-BE49-F238E27FC236}">
                <a16:creationId xmlns:a16="http://schemas.microsoft.com/office/drawing/2014/main" id="{739A89A6-D259-43CB-8845-A02EB9A9C0C9}"/>
              </a:ext>
            </a:extLst>
          </p:cNvPr>
          <p:cNvSpPr>
            <a:spLocks xmlns:a="http://schemas.openxmlformats.org/drawingml/2006/main" noGrp="1"/>
          </p:cNvSpPr>
          <p:nvPr/>
        </p:nvSpPr>
        <p:spPr>
          <a:xfrm xmlns:a="http://schemas.openxmlformats.org/drawingml/2006/main">
            <a:off x="781050" y="2457450"/>
            <a:ext cx="2276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27C9D"/>
                </a:solidFill>
                <a:latin typeface="Arial"/>
                <a:ea typeface="Arial"/>
                <a:cs typeface="Arial"/>
              </a:defRPr>
            </a:pPr>
            <a:r>
              <a:rPr sz="1125" b="1">
                <a:solidFill>
                  <a:srgbClr val="227C9D"/>
                </a:solidFill>
                <a:latin typeface="Arial"/>
                <a:ea typeface="Arial"/>
                <a:cs typeface="Arial"/>
              </a:rPr>
              <a:t>1  Channel estimate</a:t>
            </a:r>
          </a:p>
        </p:txBody>
      </p:sp>
      <p:sp>
        <p:nvSpPr>
          <p:cNvPr id="10" name="">
            <a:extLst xmlns:a="http://schemas.openxmlformats.org/drawingml/2006/main">
              <a:ext uri="{FF2B5EF4-FFF2-40B4-BE49-F238E27FC236}">
                <a16:creationId xmlns:a16="http://schemas.microsoft.com/office/drawing/2014/main" id="{FBC3CBA7-EA48-49F2-9F2A-A3A308AB7DEB}"/>
              </a:ext>
            </a:extLst>
          </p:cNvPr>
          <p:cNvSpPr>
            <a:spLocks xmlns:a="http://schemas.openxmlformats.org/drawingml/2006/main" noGrp="1"/>
          </p:cNvSpPr>
          <p:nvPr/>
        </p:nvSpPr>
        <p:spPr>
          <a:xfrm xmlns:a="http://schemas.openxmlformats.org/drawingml/2006/main">
            <a:off x="781050" y="2781300"/>
            <a:ext cx="2276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Ĥₖ = Σₘ X*ₘ,ₖ Yᶜᵒʳʳₘ,ₖ</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      ───────────────</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       Σₘ |Xₘ,ₖ|²</a:t>
            </a:r>
          </a:p>
        </p:txBody>
      </p:sp>
      <p:sp>
        <p:nvSpPr>
          <p:cNvPr id="11" name="">
            <a:extLst xmlns:a="http://schemas.openxmlformats.org/drawingml/2006/main">
              <a:ext uri="{FF2B5EF4-FFF2-40B4-BE49-F238E27FC236}">
                <a16:creationId xmlns:a16="http://schemas.microsoft.com/office/drawing/2014/main" id="{901FD5F5-959C-4942-A341-723A8B589AAD}"/>
              </a:ext>
            </a:extLst>
          </p:cNvPr>
          <p:cNvSpPr>
            <a:spLocks xmlns:a="http://schemas.openxmlformats.org/drawingml/2006/main" noGrp="1"/>
          </p:cNvSpPr>
          <p:nvPr/>
        </p:nvSpPr>
        <p:spPr>
          <a:xfrm xmlns:a="http://schemas.openxmlformats.org/drawingml/2006/main">
            <a:off x="3362325" y="2324100"/>
            <a:ext cx="2619375" cy="1485900"/>
          </a:xfrm>
          <a:prstGeom xmlns:a="http://schemas.openxmlformats.org/drawingml/2006/main" prst="roundRect">
            <a:avLst>
              <a:gd name="adj" fmla="val 5128"/>
            </a:avLst>
          </a:prstGeom>
          <a:solidFill xmlns:a="http://schemas.openxmlformats.org/drawingml/2006/main">
            <a:srgbClr val="FFF4F0"/>
          </a:solidFill>
          <a:ln xmlns:a="http://schemas.openxmlformats.org/drawingml/2006/main" w="9525">
            <a:solidFill>
              <a:srgbClr val="D9E2EC"/>
            </a:solidFill>
            <a:prstDash val="solid"/>
          </a:ln>
        </p:spPr>
      </p:sp>
      <p:sp>
        <p:nvSpPr>
          <p:cNvPr id="12" name="">
            <a:extLst xmlns:a="http://schemas.openxmlformats.org/drawingml/2006/main">
              <a:ext uri="{FF2B5EF4-FFF2-40B4-BE49-F238E27FC236}">
                <a16:creationId xmlns:a16="http://schemas.microsoft.com/office/drawing/2014/main" id="{CE661335-270B-49A5-895D-0A11AE5ABB6B}"/>
              </a:ext>
            </a:extLst>
          </p:cNvPr>
          <p:cNvSpPr>
            <a:spLocks xmlns:a="http://schemas.openxmlformats.org/drawingml/2006/main" noGrp="1"/>
          </p:cNvSpPr>
          <p:nvPr/>
        </p:nvSpPr>
        <p:spPr>
          <a:xfrm xmlns:a="http://schemas.openxmlformats.org/drawingml/2006/main">
            <a:off x="3533775" y="2457450"/>
            <a:ext cx="2276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E76F51"/>
                </a:solidFill>
                <a:latin typeface="Arial"/>
                <a:ea typeface="Arial"/>
                <a:cs typeface="Arial"/>
              </a:defRPr>
            </a:pPr>
            <a:r>
              <a:rPr sz="1125" b="1">
                <a:solidFill>
                  <a:srgbClr val="E76F51"/>
                </a:solidFill>
                <a:latin typeface="Arial"/>
                <a:ea typeface="Arial"/>
                <a:cs typeface="Arial"/>
              </a:rPr>
              <a:t>2  Training residual</a:t>
            </a:r>
          </a:p>
        </p:txBody>
      </p:sp>
      <p:sp>
        <p:nvSpPr>
          <p:cNvPr id="13" name="">
            <a:extLst xmlns:a="http://schemas.openxmlformats.org/drawingml/2006/main">
              <a:ext uri="{FF2B5EF4-FFF2-40B4-BE49-F238E27FC236}">
                <a16:creationId xmlns:a16="http://schemas.microsoft.com/office/drawing/2014/main" id="{DBE55A89-C808-44FB-9379-4CCA571EB5CC}"/>
              </a:ext>
            </a:extLst>
          </p:cNvPr>
          <p:cNvSpPr>
            <a:spLocks xmlns:a="http://schemas.openxmlformats.org/drawingml/2006/main" noGrp="1"/>
          </p:cNvSpPr>
          <p:nvPr/>
        </p:nvSpPr>
        <p:spPr>
          <a:xfrm xmlns:a="http://schemas.openxmlformats.org/drawingml/2006/main">
            <a:off x="3533775" y="2781300"/>
            <a:ext cx="2276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eₖ = (1/M) Σₘ</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      |Yᶜᵒʳʳₘ,ₖ − ĤₖXₘ,ₖ|²</a:t>
            </a:r>
          </a:p>
          <a:p xmlns:a="http://schemas.openxmlformats.org/drawingml/2006/main">
            <a:r>
              <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eₘₑ𝒹 = medianₖ(eₖ)</a:t>
            </a:r>
          </a:p>
        </p:txBody>
      </p:sp>
      <p:sp>
        <p:nvSpPr>
          <p:cNvPr id="14" name="">
            <a:extLst xmlns:a="http://schemas.openxmlformats.org/drawingml/2006/main">
              <a:ext uri="{FF2B5EF4-FFF2-40B4-BE49-F238E27FC236}">
                <a16:creationId xmlns:a16="http://schemas.microsoft.com/office/drawing/2014/main" id="{FF8D9C0E-C089-47E3-9298-D00560B31D51}"/>
              </a:ext>
            </a:extLst>
          </p:cNvPr>
          <p:cNvSpPr>
            <a:spLocks xmlns:a="http://schemas.openxmlformats.org/drawingml/2006/main" noGrp="1"/>
          </p:cNvSpPr>
          <p:nvPr/>
        </p:nvSpPr>
        <p:spPr>
          <a:xfrm xmlns:a="http://schemas.openxmlformats.org/drawingml/2006/main">
            <a:off x="6115050" y="2324100"/>
            <a:ext cx="2619375" cy="1485900"/>
          </a:xfrm>
          <a:prstGeom xmlns:a="http://schemas.openxmlformats.org/drawingml/2006/main" prst="roundRect">
            <a:avLst>
              <a:gd name="adj" fmla="val 5128"/>
            </a:avLst>
          </a:prstGeom>
          <a:solidFill xmlns:a="http://schemas.openxmlformats.org/drawingml/2006/main">
            <a:srgbClr val="EAF7F5"/>
          </a:solidFill>
          <a:ln xmlns:a="http://schemas.openxmlformats.org/drawingml/2006/main" w="9525">
            <a:solidFill>
              <a:srgbClr val="D9E2EC"/>
            </a:solidFill>
            <a:prstDash val="solid"/>
          </a:ln>
        </p:spPr>
      </p:sp>
      <p:sp>
        <p:nvSpPr>
          <p:cNvPr id="15" name="">
            <a:extLst xmlns:a="http://schemas.openxmlformats.org/drawingml/2006/main">
              <a:ext uri="{FF2B5EF4-FFF2-40B4-BE49-F238E27FC236}">
                <a16:creationId xmlns:a16="http://schemas.microsoft.com/office/drawing/2014/main" id="{87725048-94B5-4D3A-B79B-7EB1F25C0D41}"/>
              </a:ext>
            </a:extLst>
          </p:cNvPr>
          <p:cNvSpPr>
            <a:spLocks xmlns:a="http://schemas.openxmlformats.org/drawingml/2006/main" noGrp="1"/>
          </p:cNvSpPr>
          <p:nvPr/>
        </p:nvSpPr>
        <p:spPr>
          <a:xfrm xmlns:a="http://schemas.openxmlformats.org/drawingml/2006/main">
            <a:off x="6286500" y="2457450"/>
            <a:ext cx="2276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A9D8F"/>
                </a:solidFill>
                <a:latin typeface="Arial"/>
                <a:ea typeface="Arial"/>
                <a:cs typeface="Arial"/>
              </a:defRPr>
            </a:pPr>
            <a:r>
              <a:rPr sz="1125" b="1">
                <a:solidFill>
                  <a:srgbClr val="2A9D8F"/>
                </a:solidFill>
                <a:latin typeface="Arial"/>
                <a:ea typeface="Arial"/>
                <a:cs typeface="Arial"/>
              </a:rPr>
              <a:t>3  Carrier reliability</a:t>
            </a:r>
          </a:p>
        </p:txBody>
      </p:sp>
      <p:sp>
        <p:nvSpPr>
          <p:cNvPr id="16" name="">
            <a:extLst xmlns:a="http://schemas.openxmlformats.org/drawingml/2006/main">
              <a:ext uri="{FF2B5EF4-FFF2-40B4-BE49-F238E27FC236}">
                <a16:creationId xmlns:a16="http://schemas.microsoft.com/office/drawing/2014/main" id="{01B2593E-17A3-4B64-9934-81E2980FB7B1}"/>
              </a:ext>
            </a:extLst>
          </p:cNvPr>
          <p:cNvSpPr>
            <a:spLocks xmlns:a="http://schemas.openxmlformats.org/drawingml/2006/main" noGrp="1"/>
          </p:cNvSpPr>
          <p:nvPr/>
        </p:nvSpPr>
        <p:spPr>
          <a:xfrm xmlns:a="http://schemas.openxmlformats.org/drawingml/2006/main">
            <a:off x="6286500" y="2781300"/>
            <a:ext cx="2276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rₖ = |Ĥₖ|² / max(eₖ, ε)</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rᵣₑ𝒻 = medianₖ(rₖ)</a:t>
            </a:r>
          </a:p>
          <a:p xmlns:a="http://schemas.openxmlformats.org/drawingml/2006/main">
            <a:r>
              <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wₖ = clip(√(rₖ/rᵣₑ𝒻), 0.25, 4)</a:t>
            </a:r>
          </a:p>
        </p:txBody>
      </p:sp>
      <p:sp>
        <p:nvSpPr>
          <p:cNvPr id="17" name="">
            <a:extLst xmlns:a="http://schemas.openxmlformats.org/drawingml/2006/main">
              <a:ext uri="{FF2B5EF4-FFF2-40B4-BE49-F238E27FC236}">
                <a16:creationId xmlns:a16="http://schemas.microsoft.com/office/drawing/2014/main" id="{4CFCC416-890C-4C58-9C17-1878C2230940}"/>
              </a:ext>
            </a:extLst>
          </p:cNvPr>
          <p:cNvSpPr>
            <a:spLocks xmlns:a="http://schemas.openxmlformats.org/drawingml/2006/main" noGrp="1"/>
          </p:cNvSpPr>
          <p:nvPr/>
        </p:nvSpPr>
        <p:spPr>
          <a:xfrm xmlns:a="http://schemas.openxmlformats.org/drawingml/2006/main">
            <a:off x="8867775" y="2324100"/>
            <a:ext cx="2619375" cy="1485900"/>
          </a:xfrm>
          <a:prstGeom xmlns:a="http://schemas.openxmlformats.org/drawingml/2006/main" prst="roundRect">
            <a:avLst>
              <a:gd name="adj" fmla="val 5128"/>
            </a:avLst>
          </a:prstGeom>
          <a:solidFill xmlns:a="http://schemas.openxmlformats.org/drawingml/2006/main">
            <a:srgbClr val="F2F0FA"/>
          </a:solidFill>
          <a:ln xmlns:a="http://schemas.openxmlformats.org/drawingml/2006/main" w="9525">
            <a:solidFill>
              <a:srgbClr val="D9E2EC"/>
            </a:solidFill>
            <a:prstDash val="solid"/>
          </a:ln>
        </p:spPr>
      </p:sp>
      <p:sp>
        <p:nvSpPr>
          <p:cNvPr id="18" name="">
            <a:extLst xmlns:a="http://schemas.openxmlformats.org/drawingml/2006/main">
              <a:ext uri="{FF2B5EF4-FFF2-40B4-BE49-F238E27FC236}">
                <a16:creationId xmlns:a16="http://schemas.microsoft.com/office/drawing/2014/main" id="{CE1FEFBD-AC4A-414C-AD2E-4EB826CB34C5}"/>
              </a:ext>
            </a:extLst>
          </p:cNvPr>
          <p:cNvSpPr>
            <a:spLocks xmlns:a="http://schemas.openxmlformats.org/drawingml/2006/main" noGrp="1"/>
          </p:cNvSpPr>
          <p:nvPr/>
        </p:nvSpPr>
        <p:spPr>
          <a:xfrm xmlns:a="http://schemas.openxmlformats.org/drawingml/2006/main">
            <a:off x="9039225" y="2457450"/>
            <a:ext cx="2276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665191"/>
                </a:solidFill>
                <a:latin typeface="Arial"/>
                <a:ea typeface="Arial"/>
                <a:cs typeface="Arial"/>
              </a:defRPr>
            </a:pPr>
            <a:r>
              <a:rPr sz="1125" b="1">
                <a:solidFill>
                  <a:srgbClr val="665191"/>
                </a:solidFill>
                <a:latin typeface="Arial"/>
                <a:ea typeface="Arial"/>
                <a:cs typeface="Arial"/>
              </a:rPr>
              <a:t>4  Dynamic scale</a:t>
            </a:r>
          </a:p>
        </p:txBody>
      </p:sp>
      <p:sp>
        <p:nvSpPr>
          <p:cNvPr id="19" name="">
            <a:extLst xmlns:a="http://schemas.openxmlformats.org/drawingml/2006/main">
              <a:ext uri="{FF2B5EF4-FFF2-40B4-BE49-F238E27FC236}">
                <a16:creationId xmlns:a16="http://schemas.microsoft.com/office/drawing/2014/main" id="{77997172-A6A5-4132-A94F-D154B8E34B87}"/>
              </a:ext>
            </a:extLst>
          </p:cNvPr>
          <p:cNvSpPr>
            <a:spLocks xmlns:a="http://schemas.openxmlformats.org/drawingml/2006/main" noGrp="1"/>
          </p:cNvSpPr>
          <p:nvPr/>
        </p:nvSpPr>
        <p:spPr>
          <a:xfrm xmlns:a="http://schemas.openxmlformats.org/drawingml/2006/main">
            <a:off x="9039225" y="2781300"/>
            <a:ext cx="2276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832"/>
          </a:bodyPr>
          <a:lstStyle xmlns:a="http://schemas.openxmlformats.org/drawingml/2006/main"/>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b = 3,              eₘₑ𝒹 ≤ 1</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b = clip(3/√eₘₑ𝒹, 0.5, 3),  eₘₑ𝒹 &gt; 1</a:t>
            </a:r>
          </a:p>
          <a:p xmlns:a="http://schemas.openxmlformats.org/drawingml/2006/main">
            <a:r>
              <a:t/>
            </a:r>
          </a:p>
          <a:p xmlns:a="http://schemas.openxmlformats.org/drawingml/2006/main">
            <a:pPr>
              <a:defRPr sz="1500" b="0">
                <a:solidFill>
                  <a:srgbClr val="1F2933"/>
                </a:solidFill>
                <a:latin typeface="Arial"/>
                <a:ea typeface="Arial"/>
                <a:cs typeface="Arial"/>
              </a:defRPr>
            </a:pPr>
            <a:r>
              <a:rPr sz="1500" b="0">
                <a:solidFill>
                  <a:srgbClr val="1F2933"/>
                </a:solidFill>
                <a:latin typeface="Arial"/>
                <a:ea typeface="Arial"/>
                <a:cs typeface="Arial"/>
              </a:rPr>
              <a:t>sₖ = b · wₖ</a:t>
            </a:r>
          </a:p>
        </p:txBody>
      </p:sp>
      <p:sp>
        <p:nvSpPr>
          <p:cNvPr id="20" name="">
            <a:extLst xmlns:a="http://schemas.openxmlformats.org/drawingml/2006/main">
              <a:ext uri="{FF2B5EF4-FFF2-40B4-BE49-F238E27FC236}">
                <a16:creationId xmlns:a16="http://schemas.microsoft.com/office/drawing/2014/main" id="{AF88EA01-1427-49E2-B90D-CBAE06F5030A}"/>
              </a:ext>
            </a:extLst>
          </p:cNvPr>
          <p:cNvSpPr>
            <a:spLocks xmlns:a="http://schemas.openxmlformats.org/drawingml/2006/main" noGrp="1"/>
          </p:cNvSpPr>
          <p:nvPr/>
        </p:nvSpPr>
        <p:spPr>
          <a:xfrm xmlns:a="http://schemas.openxmlformats.org/drawingml/2006/main">
            <a:off x="609600" y="4114800"/>
            <a:ext cx="10972800" cy="1162050"/>
          </a:xfrm>
          <a:prstGeom xmlns:a="http://schemas.openxmlformats.org/drawingml/2006/main" prst="roundRect">
            <a:avLst>
              <a:gd name="adj" fmla="val 6557"/>
            </a:avLst>
          </a:prstGeom>
          <a:solidFill xmlns:a="http://schemas.openxmlformats.org/drawingml/2006/main">
            <a:srgbClr val="F8FAFC"/>
          </a:solidFill>
          <a:ln xmlns:a="http://schemas.openxmlformats.org/drawingml/2006/main" w="9525">
            <a:solidFill>
              <a:srgbClr val="D9E2EC"/>
            </a:solidFill>
            <a:prstDash val="solid"/>
          </a:ln>
        </p:spPr>
      </p:sp>
      <p:sp>
        <p:nvSpPr>
          <p:cNvPr id="21" name="">
            <a:extLst xmlns:a="http://schemas.openxmlformats.org/drawingml/2006/main">
              <a:ext uri="{FF2B5EF4-FFF2-40B4-BE49-F238E27FC236}">
                <a16:creationId xmlns:a16="http://schemas.microsoft.com/office/drawing/2014/main" id="{603DCDF4-52A6-47C7-9279-5009753874CA}"/>
              </a:ext>
            </a:extLst>
          </p:cNvPr>
          <p:cNvSpPr>
            <a:spLocks xmlns:a="http://schemas.openxmlformats.org/drawingml/2006/main" noGrp="1"/>
          </p:cNvSpPr>
          <p:nvPr/>
        </p:nvSpPr>
        <p:spPr>
          <a:xfrm xmlns:a="http://schemas.openxmlformats.org/drawingml/2006/main">
            <a:off x="876300" y="429577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defRPr sz="1125" b="1">
                <a:solidFill>
                  <a:srgbClr val="227C9D"/>
                </a:solidFill>
                <a:latin typeface="Arial"/>
                <a:ea typeface="Arial"/>
                <a:cs typeface="Arial"/>
              </a:defRPr>
            </a:pPr>
            <a:r>
              <a:rPr sz="1125" b="1">
                <a:solidFill>
                  <a:srgbClr val="227C9D"/>
                </a:solidFill>
                <a:latin typeface="Arial"/>
                <a:ea typeface="Arial"/>
                <a:cs typeface="Arial"/>
              </a:rPr>
              <a:t>Equalize</a:t>
            </a:r>
          </a:p>
        </p:txBody>
      </p:sp>
      <p:sp>
        <p:nvSpPr>
          <p:cNvPr id="22" name="">
            <a:extLst xmlns:a="http://schemas.openxmlformats.org/drawingml/2006/main">
              <a:ext uri="{FF2B5EF4-FFF2-40B4-BE49-F238E27FC236}">
                <a16:creationId xmlns:a16="http://schemas.microsoft.com/office/drawing/2014/main" id="{F59A7089-FA73-49D6-B321-1E8EBF2CCDED}"/>
              </a:ext>
            </a:extLst>
          </p:cNvPr>
          <p:cNvSpPr>
            <a:spLocks xmlns:a="http://schemas.openxmlformats.org/drawingml/2006/main" noGrp="1"/>
          </p:cNvSpPr>
          <p:nvPr/>
        </p:nvSpPr>
        <p:spPr>
          <a:xfrm xmlns:a="http://schemas.openxmlformats.org/drawingml/2006/main">
            <a:off x="762000" y="45720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1F2933"/>
                </a:solidFill>
                <a:latin typeface="Arial"/>
                <a:ea typeface="Arial"/>
                <a:cs typeface="Arial"/>
              </a:defRPr>
            </a:pPr>
            <a:r>
              <a:rPr sz="1575" b="1">
                <a:solidFill>
                  <a:srgbClr val="1F2933"/>
                </a:solidFill>
                <a:latin typeface="Arial"/>
                <a:ea typeface="Arial"/>
                <a:cs typeface="Arial"/>
              </a:rPr>
              <a:t>Zₘ,ₖ = Yᶜᵒʳʳₘ,ₖ / Ĥₖ</a:t>
            </a:r>
          </a:p>
        </p:txBody>
      </p:sp>
      <p:sp>
        <p:nvSpPr>
          <p:cNvPr id="23" name="">
            <a:extLst xmlns:a="http://schemas.openxmlformats.org/drawingml/2006/main">
              <a:ext uri="{FF2B5EF4-FFF2-40B4-BE49-F238E27FC236}">
                <a16:creationId xmlns:a16="http://schemas.microsoft.com/office/drawing/2014/main" id="{717B0691-0717-4D86-94AC-65F25EB841D4}"/>
              </a:ext>
            </a:extLst>
          </p:cNvPr>
          <p:cNvSpPr>
            <a:spLocks xmlns:a="http://schemas.openxmlformats.org/drawingml/2006/main" noGrp="1"/>
          </p:cNvSpPr>
          <p:nvPr/>
        </p:nvSpPr>
        <p:spPr>
          <a:xfrm xmlns:a="http://schemas.openxmlformats.org/drawingml/2006/main">
            <a:off x="2724150" y="4533900"/>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571"/>
          </a:bodyPr>
          <a:lstStyle xmlns:a="http://schemas.openxmlformats.org/drawingml/2006/main"/>
          <a:p xmlns:a="http://schemas.openxmlformats.org/drawingml/2006/main">
            <a:pPr>
              <a:defRPr sz="2100" b="1">
                <a:solidFill>
                  <a:srgbClr val="2A9D8F"/>
                </a:solidFill>
                <a:latin typeface="Arial"/>
                <a:ea typeface="Arial"/>
                <a:cs typeface="Arial"/>
              </a:defRPr>
            </a:pPr>
            <a:r>
              <a:rPr sz="2100" b="1">
                <a:solidFill>
                  <a:srgbClr val="2A9D8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6911161-4360-4A17-AF9E-BF887C587A31}"/>
              </a:ext>
            </a:extLst>
          </p:cNvPr>
          <p:cNvSpPr>
            <a:spLocks xmlns:a="http://schemas.openxmlformats.org/drawingml/2006/main" noGrp="1"/>
          </p:cNvSpPr>
          <p:nvPr/>
        </p:nvSpPr>
        <p:spPr>
          <a:xfrm xmlns:a="http://schemas.openxmlformats.org/drawingml/2006/main">
            <a:off x="3333750" y="4295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defRPr sz="1125" b="1">
                <a:solidFill>
                  <a:srgbClr val="2A9D8F"/>
                </a:solidFill>
                <a:latin typeface="Arial"/>
                <a:ea typeface="Arial"/>
                <a:cs typeface="Arial"/>
              </a:defRPr>
            </a:pPr>
            <a:r>
              <a:rPr sz="1125" b="1">
                <a:solidFill>
                  <a:srgbClr val="2A9D8F"/>
                </a:solidFill>
                <a:latin typeface="Arial"/>
                <a:ea typeface="Arial"/>
                <a:cs typeface="Arial"/>
              </a:rPr>
              <a:t>LLR for QPSK</a:t>
            </a:r>
          </a:p>
        </p:txBody>
      </p:sp>
      <p:sp>
        <p:nvSpPr>
          <p:cNvPr id="25" name="">
            <a:extLst xmlns:a="http://schemas.openxmlformats.org/drawingml/2006/main">
              <a:ext uri="{FF2B5EF4-FFF2-40B4-BE49-F238E27FC236}">
                <a16:creationId xmlns:a16="http://schemas.microsoft.com/office/drawing/2014/main" id="{2B032D83-C11C-415F-AAE0-DF69BA85FEEA}"/>
              </a:ext>
            </a:extLst>
          </p:cNvPr>
          <p:cNvSpPr>
            <a:spLocks xmlns:a="http://schemas.openxmlformats.org/drawingml/2006/main" noGrp="1"/>
          </p:cNvSpPr>
          <p:nvPr/>
        </p:nvSpPr>
        <p:spPr>
          <a:xfrm xmlns:a="http://schemas.openxmlformats.org/drawingml/2006/main">
            <a:off x="3333750" y="45529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79"/>
          </a:bodyPr>
          <a:lstStyle xmlns:a="http://schemas.openxmlformats.org/drawingml/2006/main"/>
          <a:p xmlns:a="http://schemas.openxmlformats.org/drawingml/2006/main">
            <a:pPr>
              <a:defRPr sz="1575" b="1">
                <a:solidFill>
                  <a:srgbClr val="1F2933"/>
                </a:solidFill>
                <a:latin typeface="Arial"/>
                <a:ea typeface="Arial"/>
                <a:cs typeface="Arial"/>
              </a:defRPr>
            </a:pPr>
            <a:r>
              <a:rPr sz="1575" b="1">
                <a:solidFill>
                  <a:srgbClr val="1F2933"/>
                </a:solidFill>
                <a:latin typeface="Arial"/>
                <a:ea typeface="Arial"/>
                <a:cs typeface="Arial"/>
              </a:rPr>
              <a:t>Lₖ,₁ = sₖ · Im(Zₘ,ₖ)</a:t>
            </a:r>
          </a:p>
          <a:p xmlns:a="http://schemas.openxmlformats.org/drawingml/2006/main">
            <a:pPr>
              <a:defRPr sz="1575" b="1">
                <a:solidFill>
                  <a:srgbClr val="1F2933"/>
                </a:solidFill>
                <a:latin typeface="Arial"/>
                <a:ea typeface="Arial"/>
                <a:cs typeface="Arial"/>
              </a:defRPr>
            </a:pPr>
            <a:r>
              <a:rPr sz="1575" b="1">
                <a:solidFill>
                  <a:srgbClr val="1F2933"/>
                </a:solidFill>
                <a:latin typeface="Arial"/>
                <a:ea typeface="Arial"/>
                <a:cs typeface="Arial"/>
              </a:rPr>
              <a:t>Lₖ,₂ = sₖ · Re(Zₘ,ₖ)</a:t>
            </a:r>
          </a:p>
        </p:txBody>
      </p:sp>
      <p:sp>
        <p:nvSpPr>
          <p:cNvPr id="26" name="">
            <a:extLst xmlns:a="http://schemas.openxmlformats.org/drawingml/2006/main">
              <a:ext uri="{FF2B5EF4-FFF2-40B4-BE49-F238E27FC236}">
                <a16:creationId xmlns:a16="http://schemas.microsoft.com/office/drawing/2014/main" id="{10E5C191-80BE-45A6-A41E-58AC25DA5769}"/>
              </a:ext>
            </a:extLst>
          </p:cNvPr>
          <p:cNvSpPr>
            <a:spLocks xmlns:a="http://schemas.openxmlformats.org/drawingml/2006/main" noGrp="1"/>
          </p:cNvSpPr>
          <p:nvPr/>
        </p:nvSpPr>
        <p:spPr>
          <a:xfrm xmlns:a="http://schemas.openxmlformats.org/drawingml/2006/main">
            <a:off x="5619750" y="4533900"/>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571"/>
          </a:bodyPr>
          <a:lstStyle xmlns:a="http://schemas.openxmlformats.org/drawingml/2006/main"/>
          <a:p xmlns:a="http://schemas.openxmlformats.org/drawingml/2006/main">
            <a:pPr>
              <a:defRPr sz="2100" b="1">
                <a:solidFill>
                  <a:srgbClr val="2A9D8F"/>
                </a:solidFill>
                <a:latin typeface="Arial"/>
                <a:ea typeface="Arial"/>
                <a:cs typeface="Arial"/>
              </a:defRPr>
            </a:pPr>
            <a:r>
              <a:rPr sz="2100" b="1">
                <a:solidFill>
                  <a:srgbClr val="2A9D8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877D179F-6D94-44B5-B3DC-F8DDF5F049ED}"/>
              </a:ext>
            </a:extLst>
          </p:cNvPr>
          <p:cNvSpPr>
            <a:spLocks xmlns:a="http://schemas.openxmlformats.org/drawingml/2006/main" noGrp="1"/>
          </p:cNvSpPr>
          <p:nvPr/>
        </p:nvSpPr>
        <p:spPr>
          <a:xfrm xmlns:a="http://schemas.openxmlformats.org/drawingml/2006/main">
            <a:off x="6334125" y="4295775"/>
            <a:ext cx="152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defRPr sz="1125" b="1">
                <a:solidFill>
                  <a:srgbClr val="E76F51"/>
                </a:solidFill>
                <a:latin typeface="Arial"/>
                <a:ea typeface="Arial"/>
                <a:cs typeface="Arial"/>
              </a:defRPr>
            </a:pPr>
            <a:r>
              <a:rPr sz="1125" b="1">
                <a:solidFill>
                  <a:srgbClr val="E76F51"/>
                </a:solidFill>
                <a:latin typeface="Arial"/>
                <a:ea typeface="Arial"/>
                <a:cs typeface="Arial"/>
              </a:rPr>
              <a:t>LDPC</a:t>
            </a:r>
          </a:p>
        </p:txBody>
      </p:sp>
      <p:sp>
        <p:nvSpPr>
          <p:cNvPr id="28" name="">
            <a:extLst xmlns:a="http://schemas.openxmlformats.org/drawingml/2006/main">
              <a:ext uri="{FF2B5EF4-FFF2-40B4-BE49-F238E27FC236}">
                <a16:creationId xmlns:a16="http://schemas.microsoft.com/office/drawing/2014/main" id="{6FF3F96E-D98A-4ED9-9B61-B93FDCE54C72}"/>
              </a:ext>
            </a:extLst>
          </p:cNvPr>
          <p:cNvSpPr>
            <a:spLocks xmlns:a="http://schemas.openxmlformats.org/drawingml/2006/main" noGrp="1"/>
          </p:cNvSpPr>
          <p:nvPr/>
        </p:nvSpPr>
        <p:spPr>
          <a:xfrm xmlns:a="http://schemas.openxmlformats.org/drawingml/2006/main">
            <a:off x="6048375" y="45529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702"/>
          </a:bodyPr>
          <a:lstStyle xmlns:a="http://schemas.openxmlformats.org/drawingml/2006/main"/>
          <a:p xmlns:a="http://schemas.openxmlformats.org/drawingml/2006/main">
            <a:pPr>
              <a:defRPr sz="1575" b="1">
                <a:solidFill>
                  <a:srgbClr val="1F2933"/>
                </a:solidFill>
                <a:latin typeface="Arial"/>
                <a:ea typeface="Arial"/>
                <a:cs typeface="Arial"/>
              </a:defRPr>
            </a:pPr>
            <a:r>
              <a:rPr sz="1575" b="1">
                <a:solidFill>
                  <a:srgbClr val="1F2933"/>
                </a:solidFill>
                <a:latin typeface="Arial"/>
                <a:ea typeface="Arial"/>
                <a:cs typeface="Arial"/>
              </a:rPr>
              <a:t>Lᵖᵒˢᵗ = Lᶜʰ + parity messages</a:t>
            </a:r>
          </a:p>
          <a:p xmlns:a="http://schemas.openxmlformats.org/drawingml/2006/main">
            <a:pPr>
              <a:defRPr sz="1575" b="1">
                <a:solidFill>
                  <a:srgbClr val="1F2933"/>
                </a:solidFill>
                <a:latin typeface="Arial"/>
                <a:ea typeface="Arial"/>
                <a:cs typeface="Arial"/>
              </a:defRPr>
            </a:pPr>
            <a:r>
              <a:rPr sz="1575" b="1">
                <a:solidFill>
                  <a:srgbClr val="1F2933"/>
                </a:solidFill>
                <a:latin typeface="Arial"/>
                <a:ea typeface="Arial"/>
                <a:cs typeface="Arial"/>
              </a:rPr>
              <a:t>bit = sign(Lᵖᵒˢᵗ)</a:t>
            </a:r>
          </a:p>
        </p:txBody>
      </p:sp>
      <p:sp>
        <p:nvSpPr>
          <p:cNvPr id="29" name="">
            <a:extLst xmlns:a="http://schemas.openxmlformats.org/drawingml/2006/main">
              <a:ext uri="{FF2B5EF4-FFF2-40B4-BE49-F238E27FC236}">
                <a16:creationId xmlns:a16="http://schemas.microsoft.com/office/drawing/2014/main" id="{6DC24145-662D-4DB3-A360-BD563749BC29}"/>
              </a:ext>
            </a:extLst>
          </p:cNvPr>
          <p:cNvSpPr>
            <a:spLocks xmlns:a="http://schemas.openxmlformats.org/drawingml/2006/main" noGrp="1"/>
          </p:cNvSpPr>
          <p:nvPr/>
        </p:nvSpPr>
        <p:spPr>
          <a:xfrm xmlns:a="http://schemas.openxmlformats.org/drawingml/2006/main">
            <a:off x="8477250" y="4533900"/>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571"/>
          </a:bodyPr>
          <a:lstStyle xmlns:a="http://schemas.openxmlformats.org/drawingml/2006/main"/>
          <a:p xmlns:a="http://schemas.openxmlformats.org/drawingml/2006/main">
            <a:pPr>
              <a:defRPr sz="2100" b="1">
                <a:solidFill>
                  <a:srgbClr val="2A9D8F"/>
                </a:solidFill>
                <a:latin typeface="Arial"/>
                <a:ea typeface="Arial"/>
                <a:cs typeface="Arial"/>
              </a:defRPr>
            </a:pPr>
            <a:r>
              <a:rPr sz="2100" b="1">
                <a:solidFill>
                  <a:srgbClr val="2A9D8F"/>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9FBBF9FA-FE92-4BD3-A8EF-7DBE85130793}"/>
              </a:ext>
            </a:extLst>
          </p:cNvPr>
          <p:cNvSpPr>
            <a:spLocks xmlns:a="http://schemas.openxmlformats.org/drawingml/2006/main" noGrp="1"/>
          </p:cNvSpPr>
          <p:nvPr/>
        </p:nvSpPr>
        <p:spPr>
          <a:xfrm xmlns:a="http://schemas.openxmlformats.org/drawingml/2006/main">
            <a:off x="9144000" y="4295775"/>
            <a:ext cx="1619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defRPr sz="1125" b="1">
                <a:solidFill>
                  <a:srgbClr val="102A43"/>
                </a:solidFill>
                <a:latin typeface="Arial"/>
                <a:ea typeface="Arial"/>
                <a:cs typeface="Arial"/>
              </a:defRPr>
            </a:pPr>
            <a:r>
              <a:rPr sz="1125" b="1">
                <a:solidFill>
                  <a:srgbClr val="102A43"/>
                </a:solidFill>
                <a:latin typeface="Arial"/>
                <a:ea typeface="Arial"/>
                <a:cs typeface="Arial"/>
              </a:rPr>
              <a:t>Result</a:t>
            </a:r>
          </a:p>
        </p:txBody>
      </p:sp>
      <p:sp>
        <p:nvSpPr>
          <p:cNvPr id="31" name="">
            <a:extLst xmlns:a="http://schemas.openxmlformats.org/drawingml/2006/main">
              <a:ext uri="{FF2B5EF4-FFF2-40B4-BE49-F238E27FC236}">
                <a16:creationId xmlns:a16="http://schemas.microsoft.com/office/drawing/2014/main" id="{412F307D-C6BF-486C-9E1D-8EEF917E1458}"/>
              </a:ext>
            </a:extLst>
          </p:cNvPr>
          <p:cNvSpPr>
            <a:spLocks xmlns:a="http://schemas.openxmlformats.org/drawingml/2006/main" noGrp="1"/>
          </p:cNvSpPr>
          <p:nvPr/>
        </p:nvSpPr>
        <p:spPr>
          <a:xfrm xmlns:a="http://schemas.openxmlformats.org/drawingml/2006/main">
            <a:off x="8953500" y="45529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985"/>
          </a:bodyPr>
          <a:lstStyle xmlns:a="http://schemas.openxmlformats.org/drawingml/2006/main"/>
          <a:p xmlns:a="http://schemas.openxmlformats.org/drawingml/2006/main">
            <a:pPr>
              <a:defRPr sz="1650" b="1">
                <a:solidFill>
                  <a:srgbClr val="2A9D8F"/>
                </a:solidFill>
                <a:latin typeface="Arial"/>
                <a:ea typeface="Arial"/>
                <a:cs typeface="Arial"/>
              </a:defRPr>
            </a:pPr>
            <a:r>
              <a:rPr sz="1650" b="1">
                <a:solidFill>
                  <a:srgbClr val="2A9D8F"/>
                </a:solidFill>
                <a:latin typeface="Arial"/>
                <a:ea typeface="Arial"/>
                <a:cs typeface="Arial"/>
              </a:rPr>
              <a:t>BER after LDPC = 0%</a:t>
            </a:r>
          </a:p>
          <a:p xmlns:a="http://schemas.openxmlformats.org/drawingml/2006/main">
            <a:pPr>
              <a:defRPr sz="1650" b="1">
                <a:solidFill>
                  <a:srgbClr val="2A9D8F"/>
                </a:solidFill>
                <a:latin typeface="Arial"/>
                <a:ea typeface="Arial"/>
                <a:cs typeface="Arial"/>
              </a:defRPr>
            </a:pPr>
            <a:r>
              <a:rPr sz="1650" b="1">
                <a:solidFill>
                  <a:srgbClr val="2A9D8F"/>
                </a:solidFill>
                <a:latin typeface="Arial"/>
                <a:ea typeface="Arial"/>
                <a:cs typeface="Arial"/>
              </a:rPr>
              <a:t>JPG recovered</a:t>
            </a:r>
          </a:p>
        </p:txBody>
      </p:sp>
      <p:sp>
        <p:nvSpPr>
          <p:cNvPr id="32" name="">
            <a:extLst xmlns:a="http://schemas.openxmlformats.org/drawingml/2006/main">
              <a:ext uri="{FF2B5EF4-FFF2-40B4-BE49-F238E27FC236}">
                <a16:creationId xmlns:a16="http://schemas.microsoft.com/office/drawing/2014/main" id="{87BDF794-8771-4747-8638-63950CC6E405}"/>
              </a:ext>
            </a:extLst>
          </p:cNvPr>
          <p:cNvSpPr>
            <a:spLocks xmlns:a="http://schemas.openxmlformats.org/drawingml/2006/main" noGrp="1"/>
          </p:cNvSpPr>
          <p:nvPr/>
        </p:nvSpPr>
        <p:spPr>
          <a:xfrm xmlns:a="http://schemas.openxmlformats.org/drawingml/2006/main">
            <a:off x="609600" y="561975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0">
                <a:solidFill>
                  <a:srgbClr val="52606D"/>
                </a:solidFill>
                <a:latin typeface="Arial"/>
                <a:ea typeface="Arial"/>
                <a:cs typeface="Arial"/>
              </a:defRPr>
            </a:pPr>
            <a:r>
              <a:rPr sz="1275" b="0">
                <a:solidFill>
                  <a:srgbClr val="52606D"/>
                </a:solidFill>
                <a:latin typeface="Arial"/>
                <a:ea typeface="Arial"/>
                <a:cs typeface="Arial"/>
              </a:rPr>
              <a:t>Fixed baseline: sₖ = 3 for every carrier</a:t>
            </a:r>
          </a:p>
        </p:txBody>
      </p:sp>
      <p:sp>
        <p:nvSpPr>
          <p:cNvPr id="33" name="">
            <a:extLst xmlns:a="http://schemas.openxmlformats.org/drawingml/2006/main">
              <a:ext uri="{FF2B5EF4-FFF2-40B4-BE49-F238E27FC236}">
                <a16:creationId xmlns:a16="http://schemas.microsoft.com/office/drawing/2014/main" id="{9ECFC8D6-85A3-4D54-9B02-B95A298EC9F8}"/>
              </a:ext>
            </a:extLst>
          </p:cNvPr>
          <p:cNvSpPr>
            <a:spLocks xmlns:a="http://schemas.openxmlformats.org/drawingml/2006/main" noGrp="1"/>
          </p:cNvSpPr>
          <p:nvPr/>
        </p:nvSpPr>
        <p:spPr>
          <a:xfrm xmlns:a="http://schemas.openxmlformats.org/drawingml/2006/main">
            <a:off x="5429250" y="5619750"/>
            <a:ext cx="615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102A43"/>
                </a:solidFill>
                <a:latin typeface="Arial"/>
                <a:ea typeface="Arial"/>
                <a:cs typeface="Arial"/>
              </a:defRPr>
            </a:pPr>
            <a:r>
              <a:rPr sz="1275" b="1">
                <a:solidFill>
                  <a:srgbClr val="102A43"/>
                </a:solidFill>
                <a:latin typeface="Arial"/>
                <a:ea typeface="Arial"/>
                <a:cs typeface="Arial"/>
              </a:rPr>
              <a:t>Adaptive: weak carrier ↓ confidence   |   reliable carrier ↑ confidence</a:t>
            </a:r>
          </a:p>
        </p:txBody>
      </p:sp>
    </p:spTree>
    <p:extLst>
      <p:ext uri="{BB962C8B-B14F-4D97-AF65-F5344CB8AC3E}">
        <p14:creationId xmlns:p14="http://schemas.microsoft.com/office/powerpoint/2010/main" val="456605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2026-09-14T05:33:16.3330000Z</dcterms:created>
  <dcterms:modified xsi:type="dcterms:W3CDTF">2026-09-14T05:33:16.3340000Z</dcterms:modified>
</coreProperties>
</file>